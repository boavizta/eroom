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887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4800" y="45720"/>
            <a:ext cx="10668000" cy="2286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l"/>
            <a:r>
              <a:rPr sz="1600" b="1">
                <a:solidFill>
                  <a:srgbClr val="000000"/>
                </a:solidFill>
                <a:latin typeface="Arial"/>
              </a:rPr>
              <a:t>Analyse de parcours web — Vue generale du workflow (par thematique, 2 colonnes)</a:t>
            </a:r>
          </a:p>
        </p:txBody>
      </p:sp>
      <p:sp>
        <p:nvSpPr>
          <p:cNvPr id="3" name="Oval 2"/>
          <p:cNvSpPr/>
          <p:nvPr/>
        </p:nvSpPr>
        <p:spPr>
          <a:xfrm>
            <a:off x="2674620" y="464820"/>
            <a:ext cx="137160" cy="13716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743200" y="601980"/>
            <a:ext cx="0" cy="144780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304800" y="762000"/>
            <a:ext cx="4876800" cy="10896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04800" y="762000"/>
            <a:ext cx="4876800" cy="289560"/>
          </a:xfrm>
          <a:prstGeom prst="rect">
            <a:avLst/>
          </a:prstGeom>
          <a:solidFill>
            <a:srgbClr val="ECECF2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COLLECTE (automatique)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9100" y="1143000"/>
            <a:ext cx="4648200" cy="59436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HAR, Coverage, Core Web Vitals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(analyze_har.py, coverage_metrics.py,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collect_cwv_pagespeed.py ou run_lighthouse.sh en repli)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1851660"/>
            <a:ext cx="0" cy="152399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04800" y="2080260"/>
            <a:ext cx="4876800" cy="122682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4800" y="2080260"/>
            <a:ext cx="4876800" cy="289560"/>
          </a:xfrm>
          <a:prstGeom prst="rect">
            <a:avLst/>
          </a:prstGeom>
          <a:solidFill>
            <a:srgbClr val="ECECF2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JUGEMENT AUTOMATIQUE EOF (automatique)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9100" y="2461260"/>
            <a:ext cx="4648200" cy="73152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run_eof.py confronte les donnees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deja collectees au referentiel EOF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(~10 criteres sur 54 tranches par script,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le reste reste 'je ne sais pas')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3307080"/>
            <a:ext cx="0" cy="152400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04800" y="3535680"/>
            <a:ext cx="4876800" cy="1798320"/>
          </a:xfrm>
          <a:prstGeom prst="rect">
            <a:avLst/>
          </a:prstGeom>
          <a:solidFill>
            <a:srgbClr val="9BD0DD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4300" wrap="none" tIns="6096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IMPACT CO2e (optionnel, a tout moment)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4800" y="3825240"/>
            <a:ext cx="4876800" cy="0"/>
          </a:xfrm>
          <a:prstGeom prst="line">
            <a:avLst/>
          </a:prstGeom>
          <a:ln w="1524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9100" y="3916680"/>
            <a:ext cx="4648200" cy="73152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/efootprint -&gt; modele Boavizta (reference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+ 3 scenarios cumules prio1 / prio1+2 / prio1+2+3)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-&gt; donnees disponibles pour la PROCHAINE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generation du rapport, pas un ajout final isole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100" y="4762500"/>
            <a:ext cx="4648200" cy="45720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Action humaine possible : trafic annuel et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taille d'instance cloud, si non auto-detectes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0" y="5334000"/>
            <a:ext cx="0" cy="190500"/>
          </a:xfrm>
          <a:prstGeom prst="line">
            <a:avLst/>
          </a:prstGeom>
          <a:ln w="19050">
            <a:solidFill>
              <a:srgbClr val="5BA1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3200" y="5524500"/>
            <a:ext cx="3200400" cy="0"/>
          </a:xfrm>
          <a:prstGeom prst="line">
            <a:avLst/>
          </a:prstGeom>
          <a:ln w="19050">
            <a:solidFill>
              <a:srgbClr val="5BA1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943600" y="647700"/>
            <a:ext cx="0" cy="4876800"/>
          </a:xfrm>
          <a:prstGeom prst="line">
            <a:avLst/>
          </a:prstGeom>
          <a:ln w="19050">
            <a:solidFill>
              <a:srgbClr val="5BA1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43600" y="647700"/>
            <a:ext cx="3048000" cy="0"/>
          </a:xfrm>
          <a:prstGeom prst="line">
            <a:avLst/>
          </a:prstGeom>
          <a:ln w="19050">
            <a:solidFill>
              <a:srgbClr val="5BA1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991600" y="647700"/>
            <a:ext cx="0" cy="106680"/>
          </a:xfrm>
          <a:prstGeom prst="line">
            <a:avLst/>
          </a:prstGeom>
          <a:ln w="19050">
            <a:solidFill>
              <a:srgbClr val="5BA1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991600" y="647700"/>
            <a:ext cx="0" cy="106680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553200" y="762000"/>
            <a:ext cx="4876800" cy="136398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53200" y="762000"/>
            <a:ext cx="4876800" cy="289560"/>
          </a:xfrm>
          <a:prstGeom prst="rect">
            <a:avLst/>
          </a:prstGeom>
          <a:solidFill>
            <a:srgbClr val="ECECF2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RAPPORT — premiere generation (automatique)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67500" y="1143000"/>
            <a:ext cx="4648200" cy="86868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generate_report_html.py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(+ check_valeurs_rapport.py, controle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interne non bloquant)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-&gt; contient deja le jugement EOF automatique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(partiel) et le CO2e si deja calcule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91600" y="2125980"/>
            <a:ext cx="0" cy="152400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6553200" y="2354580"/>
            <a:ext cx="4876800" cy="2346960"/>
          </a:xfrm>
          <a:prstGeom prst="rect">
            <a:avLst/>
          </a:prstGeom>
          <a:solidFill>
            <a:srgbClr val="9BD0DD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4300" wrap="none" tIns="6096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QUESTIONNAIRE EOF (manuel, decision de mission)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53200" y="2644140"/>
            <a:ext cx="4876800" cy="0"/>
          </a:xfrm>
          <a:prstGeom prst="line">
            <a:avLst/>
          </a:prstGeom>
          <a:ln w="1524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667500" y="2735580"/>
            <a:ext cx="4648200" cy="73152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Quand : apres le jugement automatique,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uniquement sur les criteres restes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'je ne sais pas' - jamais avant,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jamais declenche seul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67500" y="3581400"/>
            <a:ext cx="4648200" cy="100584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generate_questionnaire.py -&gt; fichier a remplir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(questionnaire-eof.md), envoye au client,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rempli, relu (parse_questionnaire.py),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fusionne (fusionner_lots.py) selon la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precedence collecte &gt; estime &gt; precise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&gt; declare &gt; suppose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91600" y="4701540"/>
            <a:ext cx="0" cy="152400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553200" y="4930140"/>
            <a:ext cx="4876800" cy="1089660"/>
          </a:xfrm>
          <a:prstGeom prst="rect">
            <a:avLst/>
          </a:prstGeom>
          <a:solidFill>
            <a:srgbClr val="FFFFFF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53200" y="4930140"/>
            <a:ext cx="4876800" cy="289560"/>
          </a:xfrm>
          <a:prstGeom prst="rect">
            <a:avLst/>
          </a:prstGeom>
          <a:solidFill>
            <a:srgbClr val="ECECF2"/>
          </a:solidFill>
          <a:ln w="152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/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RAPPORT — regeneration (automatique)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67500" y="5311140"/>
            <a:ext cx="4648200" cy="594360"/>
          </a:xfrm>
          <a:prstGeom prst="roundRect">
            <a:avLst>
              <a:gd name="adj" fmla="val 8000"/>
            </a:avLst>
          </a:prstGeom>
          <a:solidFill>
            <a:srgbClr val="E0F0F4"/>
          </a:solidFill>
          <a:ln w="9525">
            <a:solidFill>
              <a:srgbClr val="5BA1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14300" tIns="76200" rIns="76200" wrap="square"/>
          <a:lstStyle/>
          <a:p>
            <a:pPr algn="ctr"/>
            <a:r>
              <a:rPr sz="1100">
                <a:solidFill>
                  <a:srgbClr val="1C2856"/>
                </a:solidFill>
                <a:latin typeface="Arial"/>
              </a:rPr>
              <a:t>generate_report_html.py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-&gt; reflete les reponses du questionnaire</a:t>
            </a:r>
          </a:p>
          <a:p>
            <a:r>
              <a:rPr sz="1100">
                <a:solidFill>
                  <a:srgbClr val="1C2856"/>
                </a:solidFill>
                <a:latin typeface="Arial"/>
              </a:rPr>
              <a:t>fusionnees (+ CO2e si calcule entre-temps)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991600" y="6019800"/>
            <a:ext cx="0" cy="205740"/>
          </a:xfrm>
          <a:prstGeom prst="line">
            <a:avLst/>
          </a:prstGeom>
          <a:ln w="19050">
            <a:solidFill>
              <a:srgbClr val="5BA1B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8907780" y="6240780"/>
            <a:ext cx="167640" cy="167640"/>
          </a:xfrm>
          <a:prstGeom prst="ellips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945880" y="6278880"/>
            <a:ext cx="91440" cy="9144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